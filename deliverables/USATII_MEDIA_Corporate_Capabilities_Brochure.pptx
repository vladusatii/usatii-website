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1821f2184048f6" /><Relationship Type="http://schemas.openxmlformats.org/officeDocument/2006/relationships/extended-properties" Target="/docProps/app.xml" Id="R36247d3f86184495" /><Relationship Type="http://schemas.openxmlformats.org/officeDocument/2006/relationships/officeDocument" Target="/ppt/presentation.xml" Id="Rc68386881b6a4d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90b0fbf2c64c8a"/>
  </p:sldMasterIdLst>
  <p:notesMasterIdLst>
    <p:notesMasterId xmlns:r="http://schemas.openxmlformats.org/officeDocument/2006/relationships" r:id="R964fa6f136bf4afa"/>
  </p:notesMasterIdLst>
  <p:sldIdLst>
    <p:sldId xmlns:r="http://schemas.openxmlformats.org/officeDocument/2006/relationships" id="256" r:id="R899ccf7d7e0845de"/>
    <p:sldId xmlns:r="http://schemas.openxmlformats.org/officeDocument/2006/relationships" id="257" r:id="R650097d4ce8b4668"/>
    <p:sldId xmlns:r="http://schemas.openxmlformats.org/officeDocument/2006/relationships" id="258" r:id="R4f1a123335114203"/>
    <p:sldId xmlns:r="http://schemas.openxmlformats.org/officeDocument/2006/relationships" id="259" r:id="Rb41c352892c44abf"/>
    <p:sldId xmlns:r="http://schemas.openxmlformats.org/officeDocument/2006/relationships" id="260" r:id="Re1f51b5ef95744ac"/>
    <p:sldId xmlns:r="http://schemas.openxmlformats.org/officeDocument/2006/relationships" id="261" r:id="R289b90f6b668414e"/>
    <p:sldId xmlns:r="http://schemas.openxmlformats.org/officeDocument/2006/relationships" id="262" r:id="Rfb4e9d0d2d0743cf"/>
    <p:sldId xmlns:r="http://schemas.openxmlformats.org/officeDocument/2006/relationships" id="263" r:id="R108a02c4736042db"/>
    <p:sldId xmlns:r="http://schemas.openxmlformats.org/officeDocument/2006/relationships" id="264" r:id="R0ca69f50843744c9"/>
    <p:sldId xmlns:r="http://schemas.openxmlformats.org/officeDocument/2006/relationships" id="265" r:id="R5c537144ad4441da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b3a111172e44ea" /><Relationship Type="http://schemas.openxmlformats.org/officeDocument/2006/relationships/slideMaster" Target="/ppt/slideMasters/slideMaster1.xml" Id="Rc890b0fbf2c64c8a" /><Relationship Type="http://schemas.openxmlformats.org/officeDocument/2006/relationships/notesMaster" Target="/ppt/notesMasters/notesMaster1.xml" Id="R964fa6f136bf4afa" /><Relationship Type="http://schemas.openxmlformats.org/officeDocument/2006/relationships/presProps" Target="/ppt/presProps.xml" Id="R3c9dcc9b449b469d" /><Relationship Type="http://schemas.openxmlformats.org/officeDocument/2006/relationships/tableStyles" Target="/ppt/tableStyles.xml" Id="R06bd74968797425b" /><Relationship Type="http://schemas.openxmlformats.org/officeDocument/2006/relationships/slide" Target="/ppt/slides/slide1.xml" Id="R899ccf7d7e0845de" /><Relationship Type="http://schemas.openxmlformats.org/officeDocument/2006/relationships/slide" Target="/ppt/slides/slide2.xml" Id="R650097d4ce8b4668" /><Relationship Type="http://schemas.openxmlformats.org/officeDocument/2006/relationships/slide" Target="/ppt/slides/slide3.xml" Id="R4f1a123335114203" /><Relationship Type="http://schemas.openxmlformats.org/officeDocument/2006/relationships/slide" Target="/ppt/slides/slide4.xml" Id="Rb41c352892c44abf" /><Relationship Type="http://schemas.openxmlformats.org/officeDocument/2006/relationships/slide" Target="/ppt/slides/slide5.xml" Id="Re1f51b5ef95744ac" /><Relationship Type="http://schemas.openxmlformats.org/officeDocument/2006/relationships/slide" Target="/ppt/slides/slide6.xml" Id="R289b90f6b668414e" /><Relationship Type="http://schemas.openxmlformats.org/officeDocument/2006/relationships/slide" Target="/ppt/slides/slide7.xml" Id="Rfb4e9d0d2d0743cf" /><Relationship Type="http://schemas.openxmlformats.org/officeDocument/2006/relationships/slide" Target="/ppt/slides/slide8.xml" Id="R108a02c4736042db" /><Relationship Type="http://schemas.openxmlformats.org/officeDocument/2006/relationships/slide" Target="/ppt/slides/slide9.xml" Id="R0ca69f50843744c9" /><Relationship Type="http://schemas.openxmlformats.org/officeDocument/2006/relationships/slide" Target="/ppt/slides/slide10.xml" Id="R5c537144ad44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9f6182fa964c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5a545a1e204e89" /><Relationship Type="http://schemas.openxmlformats.org/officeDocument/2006/relationships/notesMaster" Target="/ppt/notesMasters/notesMaster1.xml" Id="Rfde6f0d891da4c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c92db147434ea7" /><Relationship Type="http://schemas.openxmlformats.org/officeDocument/2006/relationships/notesMaster" Target="/ppt/notesMasters/notesMaster1.xml" Id="Rcd6f312c83b54f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cb15e4da24429f" /><Relationship Type="http://schemas.openxmlformats.org/officeDocument/2006/relationships/notesMaster" Target="/ppt/notesMasters/notesMaster1.xml" Id="Rb13e346bf7bf49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3833d15fd84822" /><Relationship Type="http://schemas.openxmlformats.org/officeDocument/2006/relationships/notesMaster" Target="/ppt/notesMasters/notesMaster1.xml" Id="Re62aa4dc9cd145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a19575b713434f" /><Relationship Type="http://schemas.openxmlformats.org/officeDocument/2006/relationships/notesMaster" Target="/ppt/notesMasters/notesMaster1.xml" Id="Rf7c72f4113ba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39f570ad8d4c16" /><Relationship Type="http://schemas.openxmlformats.org/officeDocument/2006/relationships/notesMaster" Target="/ppt/notesMasters/notesMaster1.xml" Id="Rb278e955372248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e356ed19b445fe" /><Relationship Type="http://schemas.openxmlformats.org/officeDocument/2006/relationships/notesMaster" Target="/ppt/notesMasters/notesMaster1.xml" Id="R2737e69b06a94e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8ac8f15b4c4963" /><Relationship Type="http://schemas.openxmlformats.org/officeDocument/2006/relationships/notesMaster" Target="/ppt/notesMasters/notesMaster1.xml" Id="R67f73b3394754a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088924569041d4" /><Relationship Type="http://schemas.openxmlformats.org/officeDocument/2006/relationships/notesMaster" Target="/ppt/notesMasters/notesMaster1.xml" Id="R7f4224f5884649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23e2b4681649c6" /><Relationship Type="http://schemas.openxmlformats.org/officeDocument/2006/relationships/notesMaster" Target="/ppt/notesMasters/notesMaster1.xml" Id="Rfeca8a19b31741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https://www.usatii.com/</a:t>
            </a:r>
          </a:p>
          <a:p xmlns:a="http://schemas.openxmlformats.org/drawingml/2006/main">
            <a:r>
              <a:t>- USATII Media approved logo asset (client brand asset)</a:t>
            </a:r>
          </a:p>
          <a:p xmlns:a="http://schemas.openxmlformats.org/drawingml/2006/main">
            <a:r>
              <a:t>- AI-generated shareholder meeting photograph (OpenAI ImageGen, project asset)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https://www.usatii.com/</a:t>
            </a:r>
          </a:p>
          <a:p xmlns:a="http://schemas.openxmlformats.org/drawingml/2006/main">
            <a:r>
              <a:t>- https://www.usatii.com/software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USATII Media capability statement (client-supplied source)</a:t>
            </a:r>
          </a:p>
          <a:p xmlns:a="http://schemas.openxmlformats.org/drawingml/2006/main">
            <a:r>
              <a:t>- USATII Media approved logo asset (client brand asset)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USATII Media capability statement (client-supplied source)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USATII Media capability statement (client-supplied source)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USATII Media capability statement (client-supplied source)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https://www.usatii.com/</a:t>
            </a:r>
          </a:p>
          <a:p xmlns:a="http://schemas.openxmlformats.org/drawingml/2006/main">
            <a:r>
              <a:t>- https://www.usatii.com/software</a:t>
            </a:r>
          </a:p>
          <a:p xmlns:a="http://schemas.openxmlformats.org/drawingml/2006/main">
            <a:r>
              <a:t>- https://www.rebuilditinc.com/</a:t>
            </a:r>
          </a:p>
          <a:p xmlns:a="http://schemas.openxmlformats.org/drawingml/2006/main">
            <a:r>
              <a:t>- REBUILDIT INC. website image from client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USATII Media capability statement (client-supplied source)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USATII Media capability statement (client-supplied source)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USATII Media capability statement (client-supplied source)</a:t>
            </a:r>
          </a:p>
          <a:p xmlns:a="http://schemas.openxmlformats.org/drawingml/2006/main">
            <a:r>
              <a:t>- USATII Media approved logo asset (client brand asset)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ece726fd142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31dc7c56ec48fa" /><Relationship Type="http://schemas.openxmlformats.org/officeDocument/2006/relationships/slideLayout" Target="/ppt/slideLayouts/slideLayout1.xml" Id="R202fd7ea43554b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2fd7ea43554b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248573d0442fd" /><Relationship Type="http://schemas.openxmlformats.org/officeDocument/2006/relationships/image" Target="/ppt/media/image.png" Id="R66b67e929d6340bb" /><Relationship Type="http://schemas.openxmlformats.org/officeDocument/2006/relationships/image" Target="/ppt/media/image2.png" Id="Rf37d21e3c844438a" /><Relationship Type="http://schemas.openxmlformats.org/officeDocument/2006/relationships/notesSlide" Target="/ppt/notesSlides/notesSlide1.xml" Id="R5605b3bfc1bc44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84d88f8044a50" /><Relationship Type="http://schemas.openxmlformats.org/officeDocument/2006/relationships/image" Target="/ppt/media/image3.png" Id="R631fd44b7b5a4b5a" /><Relationship Type="http://schemas.openxmlformats.org/officeDocument/2006/relationships/notesSlide" Target="/ppt/notesSlides/notesSlide2.xml" Id="Rc04980814dc444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39b4659d94c3a" /><Relationship Type="http://schemas.openxmlformats.org/officeDocument/2006/relationships/image" Target="/ppt/media/image4.png" Id="Rd930859371684c89" /><Relationship Type="http://schemas.openxmlformats.org/officeDocument/2006/relationships/notesSlide" Target="/ppt/notesSlides/notesSlide3.xml" Id="Rb1b6d9ca2b204e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b168cc13449b1" /><Relationship Type="http://schemas.openxmlformats.org/officeDocument/2006/relationships/image" Target="/ppt/media/image5.png" Id="Re691aeaae4254fc6" /><Relationship Type="http://schemas.openxmlformats.org/officeDocument/2006/relationships/notesSlide" Target="/ppt/notesSlides/notesSlide4.xml" Id="R675bbd890efd43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02b79258e4c84" /><Relationship Type="http://schemas.openxmlformats.org/officeDocument/2006/relationships/image" Target="/ppt/media/image6.png" Id="R0f5600141d9f418e" /><Relationship Type="http://schemas.openxmlformats.org/officeDocument/2006/relationships/notesSlide" Target="/ppt/notesSlides/notesSlide5.xml" Id="Rd6bdcd20126a44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0470de4b64d05" /><Relationship Type="http://schemas.openxmlformats.org/officeDocument/2006/relationships/image" Target="/ppt/media/image7.png" Id="R6eb8acc0c37c48c4" /><Relationship Type="http://schemas.openxmlformats.org/officeDocument/2006/relationships/notesSlide" Target="/ppt/notesSlides/notesSlide6.xml" Id="R98b0ecd8115642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4f647fb0b4c46" /><Relationship Type="http://schemas.openxmlformats.org/officeDocument/2006/relationships/image" Target="/ppt/media/image8.png" Id="R375f98f7c27c44c3" /><Relationship Type="http://schemas.openxmlformats.org/officeDocument/2006/relationships/image" Target="/ppt/media/image.bin" Id="R783dfd34dc564c86" /><Relationship Type="http://schemas.openxmlformats.org/officeDocument/2006/relationships/notesSlide" Target="/ppt/notesSlides/notesSlide7.xml" Id="R61baa1fa3d6644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d6342e9234adb" /><Relationship Type="http://schemas.openxmlformats.org/officeDocument/2006/relationships/image" Target="/ppt/media/image9.png" Id="Re102a03e70d24a87" /><Relationship Type="http://schemas.openxmlformats.org/officeDocument/2006/relationships/notesSlide" Target="/ppt/notesSlides/notesSlide8.xml" Id="R9c0feb9b371b41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0b70529344b98" /><Relationship Type="http://schemas.openxmlformats.org/officeDocument/2006/relationships/image" Target="/ppt/media/image10.png" Id="Rc9038cc477564f35" /><Relationship Type="http://schemas.openxmlformats.org/officeDocument/2006/relationships/notesSlide" Target="/ppt/notesSlides/notesSlide9.xml" Id="R019469b0246c40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73c5c503d4639" /><Relationship Type="http://schemas.openxmlformats.org/officeDocument/2006/relationships/image" Target="/ppt/media/image11.png" Id="R059c2d546d0f4f30" /><Relationship Type="http://schemas.openxmlformats.org/officeDocument/2006/relationships/notesSlide" Target="/ppt/notesSlides/notesSlide10.xml" Id="Rd8298cd76f334c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8C2B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67e929d6340bb"/>
          <a:srcRect xmlns:a="http://schemas.openxmlformats.org/drawingml/2006/main" l="0" t="17823" r="0" b="17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772400" cy="2000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d21e3c844438a"/>
          <a:stretch xmlns:a="http://schemas.openxmlformats.org/drawingml/2006/main"/>
        </p:blipFill>
        <p:spPr>
          <a:xfrm xmlns:a="http://schemas.openxmlformats.org/drawingml/2006/main">
            <a:off x="571500" y="361950"/>
            <a:ext cx="1962150" cy="44594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39B5-41E5-444B-A222-FA901E2A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7C5A3F1-392A-47E3-BD40-44FACE88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9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Corporate</a:t>
            </a:r>
          </a:p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9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capabilities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DA058-D6C6-47A4-A784-F612831C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0DDFB"/>
                </a:solidFill>
                <a:latin typeface="Inter"/>
                <a:ea typeface="Inter"/>
                <a:cs typeface="Inter"/>
              </a:defRPr>
            </a:pPr>
            <a:r>
              <a:rPr sz="1725" b="0" i="0">
                <a:solidFill>
                  <a:srgbClr val="F0DDFB"/>
                </a:solidFill>
                <a:latin typeface="Inter"/>
                <a:ea typeface="Inter"/>
                <a:cs typeface="Inter"/>
              </a:rPr>
              <a:t>Custom software built around your operation.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108C3-EA33-4C2F-8007-EA0A016D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81850"/>
            <a:ext cx="662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CD885-C1F4-40BC-B1EF-DC18C72F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86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5EA37-5512-4EAD-848A-F8EECE89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486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DATA +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70E37-3C30-4ED2-B293-CD63422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486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FA987-B25A-4CFE-9853-A7698354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4866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B7655-4530-48FB-96CB-69B4F509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258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0DDFB"/>
                </a:solidFill>
                <a:latin typeface="Inter"/>
                <a:ea typeface="Inter"/>
                <a:cs typeface="Inter"/>
              </a:defRPr>
            </a:pPr>
            <a:r>
              <a:rPr sz="900" b="0" i="0">
                <a:solidFill>
                  <a:srgbClr val="F0DDFB"/>
                </a:solidFill>
                <a:latin typeface="Inter"/>
                <a:ea typeface="Inter"/>
                <a:cs typeface="Inter"/>
              </a:rPr>
              <a:t>Rochester, New York  ·  usatii.com</a:t>
            </a:r>
          </a:p>
        </p:txBody>
      </p:sp>
    </p:spTree>
    <p:extLst>
      <p:ext uri="{BB962C8B-B14F-4D97-AF65-F5344CB8AC3E}">
        <p14:creationId xmlns:p14="http://schemas.microsoft.com/office/powerpoint/2010/main" val="1317934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fd44b7b5a4b5a"/>
          <a:stretch xmlns:a="http://schemas.openxmlformats.org/drawingml/2006/main"/>
        </p:blipFill>
        <p:spPr>
          <a:xfrm xmlns:a="http://schemas.openxmlformats.org/drawingml/2006/main">
            <a:off x="571500" y="304800"/>
            <a:ext cx="1466850" cy="333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2E9F4-124F-47ED-B09C-8624D450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CORPORATE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B88BD-E66E-4D0F-B654-8E3C1098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488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D27E2-4623-4DFC-AFEE-6AD4EBDB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6488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USATII.COM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44B51-EBB7-4DD8-B2E5-B1910CF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724B5-C7AF-4598-8B8A-EB06CBA2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06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WHAT WE 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42805-7DB2-4A32-B926-38C32EEC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647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We build systems</a:t>
            </a:r>
          </a:p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that power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7E28B-8499-40BB-8A10-16477F7A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62500"/>
            <a:ext cx="5029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For the last half-decade, Usatii has helped businesses build operations software and bring critical workflows in-house.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B2945-F27F-47C9-8627-26C7D10B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72300"/>
            <a:ext cx="2000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F61D8-283F-4FF0-B52E-FA65F6B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81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BAEF6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DBAEF6"/>
                </a:solidFill>
                <a:latin typeface="Inter"/>
                <a:ea typeface="Inter"/>
                <a:cs typeface="Inter"/>
              </a:rPr>
              <a:t>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D0EC3-F704-44AB-9D0B-9F60C632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9620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75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Operating</a:t>
            </a:r>
          </a:p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75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partner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3A918-E2B0-4F72-9DAC-7CFD2894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239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Learn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3C030-4BB1-4AE5-81D6-76A1F02B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600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Document the current process with your team.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0FFD2-9508-4860-8C5E-60138CE0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239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D33F6-7C30-43D1-8169-E7EC3846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600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Put working software in front of users.</a:t>
            </a:r>
          </a:p>
        </p:txBody>
      </p:sp>
    </p:spTree>
    <p:extLst>
      <p:ext uri="{BB962C8B-B14F-4D97-AF65-F5344CB8AC3E}">
        <p14:creationId xmlns:p14="http://schemas.microsoft.com/office/powerpoint/2010/main" val="1063751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41676D-D75C-42B0-81EE-8678A70D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9300" cy="1005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0859371684c89"/>
          <a:stretch xmlns:a="http://schemas.openxmlformats.org/drawingml/2006/main"/>
        </p:blipFill>
        <p:spPr>
          <a:xfrm xmlns:a="http://schemas.openxmlformats.org/drawingml/2006/main">
            <a:off x="400050" y="361950"/>
            <a:ext cx="125730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783DC-36DA-4C4F-A135-DB9B1098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669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What we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18FE1-EBCA-474B-9396-7681AF7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FC6D2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CFC6D2"/>
                </a:solidFill>
                <a:latin typeface="Inter"/>
                <a:ea typeface="Inter"/>
                <a:cs typeface="Inter"/>
              </a:rPr>
              <a:t>Core systems for daily operations.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A2950-C386-4212-869B-3FEAA48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6012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FC6D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CFC6D2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23BC5-72BA-4F32-B8E2-0CD854E5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8953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26791-A8EE-4484-9A4F-4F3EEF28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9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Products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64E8E-84DC-45F9-AA5A-42D8E97E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257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Customer and employee applications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791FC-AF81-43D5-8ECD-67BCBF34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7165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46F9F-A7A3-4CE6-BC82-33A0FC68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76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AAD7E-5FAB-485D-BBFC-18E159B1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193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9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Integrations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FE485-F198-432D-87BE-A911DE9F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38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Connections between existing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B8CE4-0CB5-48EA-907E-5CD8A7EA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5275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B63A6-6B80-44B6-A2A1-DB5E3D45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57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1EA52-C706-44E1-B6D8-79340A02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00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9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Automation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B906C-C677-43D9-93C0-D0D7E3C8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Approvals, routing, and alerts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DD53B-D0E7-407D-8C9D-44913EEC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3385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595D7-1391-457B-A44F-EF6734CA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38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F7065-DDB2-4B79-A0C4-33368C84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9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B4ECA-179C-4FE6-AB28-2CBE95F8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00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Reporting and decision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47CBB-8CE5-4A0E-8CB8-B702BCA6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1495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3FD36-33DC-45B4-83B5-163D97FE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19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77911-AB17-4636-A5FC-2E178E8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626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9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45E46-1667-4997-8FE2-5D66C92B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81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Project, asset, and workforce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ECC9FA-E411-48CA-9672-479647CA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49605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98D0C-B87F-4043-A1EE-F7F27AA2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800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EC1329-F088-4A19-93ED-59FDD3E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743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9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Revenue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4364EA-E4EC-4367-96C2-3432C29C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7162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Lead and customer workflows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EF6CE-A93D-4B05-8F04-EE7485DF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767715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DAB5EE-7066-4FA4-9B05-4C3AD3BE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7981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69EBE4-FE4B-4C56-A643-7EBCDE35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79248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9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Governance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C4347F-7AFD-4CD3-8E46-678451F3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4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Access control and audit records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5DD5C7-DE9C-44A3-8A9C-24EE638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8858250"/>
            <a:ext cx="4705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89E1B1-5C58-4FA0-A1BF-297B9916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9163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2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93AE87-7820-4CAC-BEC7-138DBEA8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9105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9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Visibility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1B5E17-8A04-4C23-8AFC-6AEF30AB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9525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Current status and exceptions</a:t>
            </a:r>
          </a:p>
        </p:txBody>
      </p:sp>
    </p:spTree>
    <p:extLst>
      <p:ext uri="{BB962C8B-B14F-4D97-AF65-F5344CB8AC3E}">
        <p14:creationId xmlns:p14="http://schemas.microsoft.com/office/powerpoint/2010/main" val="5140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1aeaae4254fc6"/>
          <a:stretch xmlns:a="http://schemas.openxmlformats.org/drawingml/2006/main"/>
        </p:blipFill>
        <p:spPr>
          <a:xfrm xmlns:a="http://schemas.openxmlformats.org/drawingml/2006/main">
            <a:off x="571500" y="304800"/>
            <a:ext cx="1466850" cy="333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A17B1-CB53-45CA-A1AC-E95FD7B8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PRODUCT + SOFTWARE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F2E32-8979-41A0-A7DA-23344F1A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488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78134-08BF-4839-86C2-0F232793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6488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USATII.COM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CAB66-4B9E-43D7-8ACA-EB968A3D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E4B84-CE20-4C4A-8078-C590EBA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06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PRODUCT AND INTERNAL SOFTWARE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98C5D-C131-4E37-A046-9FDB83B7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6286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Software designed for</a:t>
            </a:r>
          </a:p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your operation.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CFB03-E1F9-4D87-B948-00B20C8A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66294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C66D6-3986-4644-89F5-6AEAAF1E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FDAFA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EFDAFA"/>
                </a:solidFill>
                <a:latin typeface="Inter"/>
                <a:ea typeface="Inter"/>
                <a:cs typeface="Inter"/>
              </a:rPr>
              <a:t>CUSTOM APPLICATIONS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F7125-11D2-4ED5-8664-B0A4DDB6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Customer-facing products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3FA0E-CFFD-4988-832C-60F10919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2E4FA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F2E4FA"/>
                </a:solidFill>
                <a:latin typeface="Inter"/>
                <a:ea typeface="Inter"/>
                <a:cs typeface="Inter"/>
              </a:rPr>
              <a:t>We build portals, forms, quoting tools, and responsive web applications.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BC72D-1165-4E92-A5B6-FFF87A4F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67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FDAFA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EFDAFA"/>
                </a:solidFill>
                <a:latin typeface="Inter"/>
                <a:ea typeface="Inter"/>
                <a:cs typeface="Inter"/>
              </a:rPr>
              <a:t>INTERNAL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08A5A-1B5D-4926-9C32-EB21B636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625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Operations software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3730F-DC0D-411F-94A0-9B8A53E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4673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2E4FA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F2E4FA"/>
                </a:solidFill>
                <a:latin typeface="Inter"/>
                <a:ea typeface="Inter"/>
                <a:cs typeface="Inter"/>
              </a:rPr>
              <a:t>We build tools for scheduling, inventory, service work, and project tracking.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A6B93-3BD9-4D19-B226-55BBF8C9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77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Production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BC902-7644-4A52-BEFC-44B51549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72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575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Modern web applications backed by Python and SQL.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41ED8-E626-47F1-A70A-A730456B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057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Deployed in containers with authentication and role-based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1E022-0683-4AB3-A233-108ACAB5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82050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4064F-7BD8-4D14-96B2-2A4FB9B7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916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We can also work within a client-required stack.</a:t>
            </a:r>
          </a:p>
        </p:txBody>
      </p:sp>
    </p:spTree>
    <p:extLst>
      <p:ext uri="{BB962C8B-B14F-4D97-AF65-F5344CB8AC3E}">
        <p14:creationId xmlns:p14="http://schemas.microsoft.com/office/powerpoint/2010/main" val="16576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600141d9f418e"/>
          <a:stretch xmlns:a="http://schemas.openxmlformats.org/drawingml/2006/main"/>
        </p:blipFill>
        <p:spPr>
          <a:xfrm xmlns:a="http://schemas.openxmlformats.org/drawingml/2006/main">
            <a:off x="571500" y="304800"/>
            <a:ext cx="1466850" cy="333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5505E-178E-4F12-B162-D129AB34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WORKFLOW +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B373B-6629-45C1-9983-D3655623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488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5DA39-5F69-4672-B419-AA603EE5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6488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USATII.COM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6DEA5-6534-4456-8DB6-BB67E3B9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9741F-E933-4078-BA00-4B955241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06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OPERATIONAL AUTOMATION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ED197-2DCC-40BB-8492-4603B798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619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Every task has an owner,</a:t>
            </a:r>
          </a:p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a status, and a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017E9-D28F-46AC-9743-94F3501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95700"/>
            <a:ext cx="487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We automate repeatable handoffs while keeping approvals and exceptions visible to the people responsible for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4DC74-D701-42B6-88D0-7E9BB52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A8D54-7624-4407-9341-B48AE6FA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55586-A60C-44DD-9A90-229AAB2C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57800"/>
            <a:ext cx="3600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Send work to the right person based on clear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88893-BE66-4C88-816F-7654DC26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D0672-0B49-402F-A8BC-CF3A3949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65B98-D33E-43FC-BD2E-8C63AC1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055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Track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E73DF-D41B-45EB-957C-2A79DA22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305550"/>
            <a:ext cx="3600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Show current status, due dates, and blocked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D8CEA-1E6C-4D2D-9CA4-622C5BCC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86600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76CB4-9636-4981-AB8E-5E60FE0D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72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F49B8-A7D6-4F8C-B7C0-1E418434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3533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A0373-DD27-4142-82A8-B6C2AF6E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353300"/>
            <a:ext cx="3600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Keep approval history and supporting evidence together.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D040B-96C6-4873-9EB4-7BFFD97A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34350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BDF18-4477-451D-B180-58C97FF5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CALL WORKFLOWS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0D644-AC63-408C-BBE7-4F3C94D1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610600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Turn calls into assigned follow-up with a transcript, summary, and due date.</a:t>
            </a:r>
          </a:p>
        </p:txBody>
      </p:sp>
    </p:spTree>
    <p:extLst>
      <p:ext uri="{BB962C8B-B14F-4D97-AF65-F5344CB8AC3E}">
        <p14:creationId xmlns:p14="http://schemas.microsoft.com/office/powerpoint/2010/main" val="1332014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8acc0c37c48c4"/>
          <a:stretch xmlns:a="http://schemas.openxmlformats.org/drawingml/2006/main"/>
        </p:blipFill>
        <p:spPr>
          <a:xfrm xmlns:a="http://schemas.openxmlformats.org/drawingml/2006/main">
            <a:off x="571500" y="304800"/>
            <a:ext cx="1466850" cy="333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7DC1A-B662-4983-9242-8E1A5B4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D7CDDD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D7CDDD"/>
                </a:solidFill>
                <a:latin typeface="Inter"/>
                <a:ea typeface="Inter"/>
                <a:cs typeface="Inter"/>
              </a:rPr>
              <a:t>DATA +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7F7E7-C2AA-4AEB-9B90-91B9B00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488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D7CDDD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D7CDDD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38AB7-8DA7-43CD-B970-D354B23C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6488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D7CDDD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D7CDDD"/>
                </a:solidFill>
                <a:latin typeface="Inter"/>
                <a:ea typeface="Inter"/>
                <a:cs typeface="Inter"/>
              </a:rPr>
              <a:t>USATII.COM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D71EA-6E4A-4D7C-B6D0-ABE39F48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BAEF6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DBAEF6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37492-C928-4F1E-9404-F6E43934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06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AEF6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DBAEF6"/>
                </a:solidFill>
                <a:latin typeface="Inter"/>
                <a:ea typeface="Inter"/>
                <a:cs typeface="Inter"/>
              </a:rPr>
              <a:t>DATA AND DECISION INFRASTRUCTURE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2DF70-FFCF-4E33-8230-BF962823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619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company data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in everyday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8B55F-1B1D-45FC-9EE7-F4F53EAB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22479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BEDC2-A574-409A-B648-49E22A32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FDAFA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EFDAFA"/>
                </a:solidFill>
                <a:latin typeface="Inter"/>
                <a:ea typeface="Inter"/>
                <a:cs typeface="Inter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3B6A7-95AB-4C2B-84F4-9F5C664E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9575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525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51325-42F4-4AD6-AA72-D2154E0D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054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0DDFB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F0DDFB"/>
                </a:solidFill>
                <a:latin typeface="Inter"/>
                <a:ea typeface="Inter"/>
                <a:cs typeface="Inter"/>
              </a:rPr>
              <a:t>Collect and organize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E0ADB-D985-4673-A4E0-26D82F2A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CEDA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D6CEDA"/>
                </a:solidFill>
                <a:latin typeface="Inter"/>
                <a:ea typeface="Inter"/>
                <a:cs typeface="Inter"/>
              </a:rPr>
              <a:t>Bring records from forms, business systems, documents, and calls into one usable data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F5E8C-7B14-4467-9375-563D1A2B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95E9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C895E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7322D-9222-49E5-BEC7-F3C2BD7C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531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Find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7EA36-CA44-4E43-8733-E19F30C9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53150"/>
            <a:ext cx="3600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CED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D6CEDA"/>
                </a:solidFill>
                <a:latin typeface="Inter"/>
                <a:ea typeface="Inter"/>
                <a:cs typeface="Inter"/>
              </a:rPr>
              <a:t>Search documents and retrieve the supporting source.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87367-411E-4572-845E-4ED5321E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34200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510AF-8129-4758-8DEA-1596EC60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19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895E9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C895E9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ABE19-0300-4B7C-A9F5-6FC16DD4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009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97B3C-2D99-4E2E-BA90-8DEEE2E1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200900"/>
            <a:ext cx="3600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CEDA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D6CEDA"/>
                </a:solidFill>
                <a:latin typeface="Inter"/>
                <a:ea typeface="Inter"/>
                <a:cs typeface="Inter"/>
              </a:rPr>
              <a:t>Use AI for a first pass, then route uncertain results to a person.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7CA33-1396-4E89-A569-AEC071EF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81950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18D37-B09F-46A9-B409-E41D8C57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29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BAEF6"/>
                </a:solidFill>
                <a:latin typeface="Inter"/>
                <a:ea typeface="Inter"/>
                <a:cs typeface="Inter"/>
              </a:defRPr>
            </a:pPr>
            <a:r>
              <a:rPr sz="1050" b="1" i="0">
                <a:solidFill>
                  <a:srgbClr val="DBAEF6"/>
                </a:solidFill>
                <a:latin typeface="Inter"/>
                <a:ea typeface="Inter"/>
                <a:cs typeface="Inter"/>
              </a:rPr>
              <a:t>Fits your model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893FF-7562-4CEE-B0AB-2ED10994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916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0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We can use your approved provider or deploy an open-weight model.</a:t>
            </a:r>
          </a:p>
        </p:txBody>
      </p:sp>
    </p:spTree>
    <p:extLst>
      <p:ext uri="{BB962C8B-B14F-4D97-AF65-F5344CB8AC3E}">
        <p14:creationId xmlns:p14="http://schemas.microsoft.com/office/powerpoint/2010/main" val="19757110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E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f98f7c27c44c3"/>
          <a:stretch xmlns:a="http://schemas.openxmlformats.org/drawingml/2006/main"/>
        </p:blipFill>
        <p:spPr>
          <a:xfrm xmlns:a="http://schemas.openxmlformats.org/drawingml/2006/main">
            <a:off x="571500" y="304800"/>
            <a:ext cx="1466850" cy="333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7A12E-1E53-4837-8FFE-6B609319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SELECTED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37D5C-828F-4F1B-A4A0-66C76D48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488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1AC86-B0ED-4E7D-8A20-625A92C0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6488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USATII.COM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82255-F443-4699-AA03-CF97792F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67C95-60FF-4F99-993A-5BDE54E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06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REBUILDIT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00B6A-2400-4683-A92B-87E7366A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6572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7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One system for office</a:t>
            </a:r>
          </a:p>
          <a:p xmlns:a="http://schemas.openxmlformats.org/drawingml/2006/main">
            <a:pPr algn="l">
              <a:defRPr sz="37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7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and field work.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dfd34dc564c86"/>
          <a:srcRect xmlns:a="http://schemas.openxmlformats.org/drawingml/2006/main" l="0" t="542" r="0" b="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714750"/>
            <a:ext cx="6629400" cy="35337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6497-74E0-43BC-B491-7C8B0413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58100"/>
            <a:ext cx="662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0CC7C-C6BC-416F-A6DE-431AE9FD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438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CONSTRUCTION OPERATING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07CA6-3CA3-411B-90DA-9E02B968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67650"/>
            <a:ext cx="415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Work is tracked from the first inquiry through the active project. The same workspace supports the back office.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213C1-4CBF-4401-BC2E-2D7C2175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825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REBUILDITINC.COM</a:t>
            </a:r>
          </a:p>
        </p:txBody>
      </p:sp>
    </p:spTree>
    <p:extLst>
      <p:ext uri="{BB962C8B-B14F-4D97-AF65-F5344CB8AC3E}">
        <p14:creationId xmlns:p14="http://schemas.microsoft.com/office/powerpoint/2010/main" val="4475500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2a03e70d24a87"/>
          <a:stretch xmlns:a="http://schemas.openxmlformats.org/drawingml/2006/main"/>
        </p:blipFill>
        <p:spPr>
          <a:xfrm xmlns:a="http://schemas.openxmlformats.org/drawingml/2006/main">
            <a:off x="571500" y="304800"/>
            <a:ext cx="1466850" cy="333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9D447-C573-42A8-9435-30ADA621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PLATFORM +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C64C6-436B-4F7A-AFDE-1FE01963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488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1BF2E-26F9-4128-BDD3-A21F1CA0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6488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USATII.COM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763D4-3487-417F-A42E-129FE9B9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626C0-99F6-46E4-8DAC-95CD0799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06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CLOUD, INTEGRATIONS, AND 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96DFE-E8D5-4253-A6AA-EA0BAF83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619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Run critical systems</a:t>
            </a:r>
          </a:p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on a controlled foundation.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4DDDC-FDCB-4B53-BBFC-4CBDD414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0"/>
            <a:ext cx="28956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C3701-FCCA-4798-A767-A147FDEA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BAEF6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DBAEF6"/>
                </a:solidFill>
                <a:latin typeface="Inter"/>
                <a:ea typeface="Inter"/>
                <a:cs typeface="Inter"/>
              </a:rPr>
              <a:t>SECURITY</a:t>
            </a:r>
          </a:p>
          <a:p xmlns:a="http://schemas.openxmlformats.org/drawingml/2006/main">
            <a:pPr algn="l">
              <a:defRPr sz="975" b="1" i="0">
                <a:solidFill>
                  <a:srgbClr val="DBAEF6"/>
                </a:solidFill>
                <a:latin typeface="Inter"/>
                <a:ea typeface="Inter"/>
                <a:cs typeface="Inter"/>
              </a:defRPr>
            </a:pPr>
            <a:r>
              <a:rPr sz="975" b="1" i="0">
                <a:solidFill>
                  <a:srgbClr val="DBAEF6"/>
                </a:solidFill>
                <a:latin typeface="Inter"/>
                <a:ea typeface="Inter"/>
                <a:cs typeface="Inter"/>
              </a:rPr>
              <a:t>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9B161-C079-4EB0-BB94-B567E36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Sign-in controls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Role-based access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Restricted records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Backups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Audit logs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2CAF3-3D7C-43DC-9D0E-CEB84172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914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FC6D2"/>
                </a:solidFill>
                <a:latin typeface="Inter"/>
                <a:ea typeface="Inter"/>
                <a:cs typeface="Inter"/>
              </a:defRPr>
            </a:pPr>
            <a:r>
              <a:rPr sz="1050" b="0" i="0">
                <a:solidFill>
                  <a:srgbClr val="CFC6D2"/>
                </a:solidFill>
                <a:latin typeface="Inter"/>
                <a:ea typeface="Inter"/>
                <a:cs typeface="Inter"/>
              </a:rPr>
              <a:t>We document these controls so they can be reviewed and maintained.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0D977-F08A-41D2-8487-41FD37A5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875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Cloud 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ED244-F503-40C1-9237-24A4E62D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Deploy to the cloud environment your team is prepared to operate.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7D030-0A56-499B-9521-40A7AC6E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436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97ADF-A8A4-486B-968F-956BBA55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3055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875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System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A29E9-460B-49FA-9014-409E12E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199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3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Connect current software through supported APIs and controlled data transfers.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FBED6-EC36-467F-9B44-8F512650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0772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DA9C9-2089-4DFE-BE07-F4E68502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4391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875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Management visibility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2A282-AC79-4745-96EF-8DE22F76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Show current status, blocked work, and items that need attention.</a:t>
            </a:r>
          </a:p>
        </p:txBody>
      </p:sp>
    </p:spTree>
    <p:extLst>
      <p:ext uri="{BB962C8B-B14F-4D97-AF65-F5344CB8AC3E}">
        <p14:creationId xmlns:p14="http://schemas.microsoft.com/office/powerpoint/2010/main" val="1653421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38cc477564f35"/>
          <a:stretch xmlns:a="http://schemas.openxmlformats.org/drawingml/2006/main"/>
        </p:blipFill>
        <p:spPr>
          <a:xfrm xmlns:a="http://schemas.openxmlformats.org/drawingml/2006/main">
            <a:off x="571500" y="304800"/>
            <a:ext cx="1466850" cy="333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B6FA5-FA56-43A2-B62A-A4C89CE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ENGAGEMENT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C1671-8D1D-45AA-95F8-BA746175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488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78526-B61E-41F5-8D90-8856D2AE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6488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USATII.COM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2499E-F806-4523-9D06-7882D2C7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05098-8B1F-48B9-864E-2C52BB29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06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FORWARD-DEPLOYED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2EE02-82E2-4F5B-96A6-0DE15625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647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Prove one workflow</a:t>
            </a:r>
          </a:p>
          <a:p xmlns:a="http://schemas.openxmlformats.org/drawingml/2006/main">
            <a:pPr algn="l">
              <a:defRPr sz="3900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3900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in 30 days.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AE7DE-7924-4A17-8AC2-D3CB02BE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662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A0F0F-3BC9-405D-9057-B0808A5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75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4875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A47BA-198B-4541-884A-D76E9FD0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38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875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Operational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E1FD1-EE7E-48E4-B7F8-5A099AA0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33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Choose the workflow, users, records, access rules, and success measure.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98291-95D6-4F23-8899-23F2B990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D6A33-F1E5-4042-A74C-DB2CB7A7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75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4875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9A12C-BE06-4A8E-8F61-E0F4936C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496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875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30-day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BC5DC-853B-411C-83F6-9C32E348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9913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Put a working version into use with a small group and collect direct feedback.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1BD0F-C87F-43D3-9703-D942DF5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39100"/>
            <a:ext cx="662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F7AF0-560B-4BB4-BDCB-7935E22E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2010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75" b="1" i="0">
                <a:solidFill>
                  <a:srgbClr val="8C2BE2"/>
                </a:solidFill>
                <a:latin typeface="Inter"/>
                <a:ea typeface="Inter"/>
                <a:cs typeface="Inter"/>
              </a:defRPr>
            </a:pPr>
            <a:r>
              <a:rPr sz="4875" b="1" i="0">
                <a:solidFill>
                  <a:srgbClr val="8C2BE2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0CDC0-B63F-4E79-AE95-19517CBC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8496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1875" b="1" i="0">
                <a:solidFill>
                  <a:srgbClr val="181818"/>
                </a:solidFill>
                <a:latin typeface="Inter"/>
                <a:ea typeface="Inter"/>
                <a:cs typeface="Inter"/>
              </a:rPr>
              <a:t>Ongoing delivery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05A26-77EE-4927-BBEF-B050825F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8991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6865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686865"/>
                </a:solidFill>
                <a:latin typeface="Inter"/>
                <a:ea typeface="Inter"/>
                <a:cs typeface="Inter"/>
              </a:rPr>
              <a:t>Improve the pilot and add the next workflow when the first one is stable.</a:t>
            </a:r>
          </a:p>
        </p:txBody>
      </p:sp>
    </p:spTree>
    <p:extLst>
      <p:ext uri="{BB962C8B-B14F-4D97-AF65-F5344CB8AC3E}">
        <p14:creationId xmlns:p14="http://schemas.microsoft.com/office/powerpoint/2010/main" val="11114230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E1833-909B-41BD-9F93-B37D2183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2BE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c2d546d0f4f30"/>
          <a:stretch xmlns:a="http://schemas.openxmlformats.org/drawingml/2006/main"/>
        </p:blipFill>
        <p:spPr>
          <a:xfrm xmlns:a="http://schemas.openxmlformats.org/drawingml/2006/main">
            <a:off x="571500" y="400050"/>
            <a:ext cx="1885950" cy="428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F91C6-CDEE-42B8-BD75-76AB2E71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F0DDFB"/>
                </a:solidFill>
                <a:latin typeface="Inter"/>
                <a:ea typeface="Inter"/>
                <a:cs typeface="Inter"/>
              </a:defRPr>
            </a:pPr>
            <a:r>
              <a:rPr sz="1200" b="0" i="0">
                <a:solidFill>
                  <a:srgbClr val="F0DDFB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F068A-776B-4249-9FCC-066998A0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381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2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Which workflow is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200" b="1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slowing your team down?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27870-0662-420A-B1D9-F03F1FF4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6CEDA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D6CEDA"/>
                </a:solidFill>
                <a:latin typeface="Inter"/>
                <a:ea typeface="Inter"/>
                <a:cs typeface="Inter"/>
              </a:rPr>
              <a:t>We will scope a pilot and put it into use with your team.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9FEFD-1181-445E-B7E0-8CA1B26E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9900"/>
            <a:ext cx="662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4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6AAE0-37CB-42C1-9A69-CDB43E8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5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AEF6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DBAEF6"/>
                </a:solidFill>
                <a:latin typeface="Inter"/>
                <a:ea typeface="Inter"/>
                <a:cs typeface="Inter"/>
              </a:rPr>
              <a:t>VLAD USATII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4BDAA-3C95-48CF-A60C-C72B99E4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58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Managing 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3BBEB-36D5-46BB-888F-B1F1C0A2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258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BAEF6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DBAEF6"/>
                </a:solidFill>
                <a:latin typeface="Inter"/>
                <a:ea typeface="Inter"/>
                <a:cs typeface="Inter"/>
              </a:rPr>
              <a:t>VLAD@USATII.COM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E27E0-1BED-4902-B85E-3F1004F6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658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701-864-0782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170D2-3586-4E7A-BE40-051357FF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2580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BAEF6"/>
                </a:solidFill>
                <a:latin typeface="Inter"/>
                <a:ea typeface="Inter"/>
                <a:cs typeface="Inter"/>
              </a:defRPr>
            </a:pPr>
            <a:r>
              <a:rPr sz="900" b="1" i="0">
                <a:solidFill>
                  <a:srgbClr val="DBAEF6"/>
                </a:solidFill>
                <a:latin typeface="Inter"/>
                <a:ea typeface="Inter"/>
                <a:cs typeface="Inter"/>
              </a:rPr>
              <a:t>USATII.COM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BB9A2-50DA-4542-8113-07EC6F63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6581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 i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Rochester, 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0FA97-7B55-4DE6-8F94-B30B4D1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239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F94A2"/>
                </a:solidFill>
                <a:latin typeface="Inter"/>
                <a:ea typeface="Inter"/>
                <a:cs typeface="Inter"/>
              </a:defRPr>
            </a:pPr>
            <a:r>
              <a:rPr sz="750" b="0" i="0">
                <a:solidFill>
                  <a:srgbClr val="9F94A2"/>
                </a:solidFill>
                <a:latin typeface="Inter"/>
                <a:ea typeface="Inter"/>
                <a:cs typeface="Inter"/>
              </a:rPr>
              <a:t>VAU SOLUTIONS, LLC d/b/a USATII MEDIA</a:t>
            </a:r>
          </a:p>
        </p:txBody>
      </p:sp>
    </p:spTree>
    <p:extLst>
      <p:ext uri="{BB962C8B-B14F-4D97-AF65-F5344CB8AC3E}">
        <p14:creationId xmlns:p14="http://schemas.microsoft.com/office/powerpoint/2010/main" val="993676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2026-08-30T04:13:38.9470000Z</dcterms:created>
  <dcterms:modified xsi:type="dcterms:W3CDTF">2026-08-30T04:13:38.9470000Z</dcterms:modified>
</coreProperties>
</file>